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61" r:id="rId4"/>
    <p:sldId id="257" r:id="rId5"/>
    <p:sldId id="262" r:id="rId6"/>
    <p:sldId id="265" r:id="rId7"/>
    <p:sldId id="263" r:id="rId8"/>
    <p:sldId id="264" r:id="rId9"/>
    <p:sldId id="258" r:id="rId10"/>
    <p:sldId id="259" r:id="rId11"/>
    <p:sldId id="26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1"/>
        <p:guide pos="3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1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4" Type="http://schemas.openxmlformats.org/officeDocument/2006/relationships/slideLayout" Target="../slideLayouts/slideLayout2.xml"/><Relationship Id="rId43" Type="http://schemas.openxmlformats.org/officeDocument/2006/relationships/tags" Target="../tags/tag111.xml"/><Relationship Id="rId42" Type="http://schemas.openxmlformats.org/officeDocument/2006/relationships/tags" Target="../tags/tag110.xml"/><Relationship Id="rId41" Type="http://schemas.openxmlformats.org/officeDocument/2006/relationships/tags" Target="../tags/tag109.xml"/><Relationship Id="rId40" Type="http://schemas.openxmlformats.org/officeDocument/2006/relationships/tags" Target="../tags/tag108.xml"/><Relationship Id="rId4" Type="http://schemas.openxmlformats.org/officeDocument/2006/relationships/tags" Target="../tags/tag72.xml"/><Relationship Id="rId39" Type="http://schemas.openxmlformats.org/officeDocument/2006/relationships/tags" Target="../tags/tag107.xml"/><Relationship Id="rId38" Type="http://schemas.openxmlformats.org/officeDocument/2006/relationships/tags" Target="../tags/tag106.xml"/><Relationship Id="rId37" Type="http://schemas.openxmlformats.org/officeDocument/2006/relationships/tags" Target="../tags/tag105.xml"/><Relationship Id="rId36" Type="http://schemas.openxmlformats.org/officeDocument/2006/relationships/tags" Target="../tags/tag104.xml"/><Relationship Id="rId35" Type="http://schemas.openxmlformats.org/officeDocument/2006/relationships/tags" Target="../tags/tag103.xml"/><Relationship Id="rId34" Type="http://schemas.openxmlformats.org/officeDocument/2006/relationships/tags" Target="../tags/tag102.xml"/><Relationship Id="rId33" Type="http://schemas.openxmlformats.org/officeDocument/2006/relationships/tags" Target="../tags/tag101.xml"/><Relationship Id="rId32" Type="http://schemas.openxmlformats.org/officeDocument/2006/relationships/tags" Target="../tags/tag100.xml"/><Relationship Id="rId31" Type="http://schemas.openxmlformats.org/officeDocument/2006/relationships/tags" Target="../tags/tag99.xml"/><Relationship Id="rId30" Type="http://schemas.openxmlformats.org/officeDocument/2006/relationships/tags" Target="../tags/tag98.xml"/><Relationship Id="rId3" Type="http://schemas.openxmlformats.org/officeDocument/2006/relationships/tags" Target="../tags/tag71.xml"/><Relationship Id="rId29" Type="http://schemas.openxmlformats.org/officeDocument/2006/relationships/tags" Target="../tags/tag97.xml"/><Relationship Id="rId28" Type="http://schemas.openxmlformats.org/officeDocument/2006/relationships/tags" Target="../tags/tag96.xml"/><Relationship Id="rId27" Type="http://schemas.openxmlformats.org/officeDocument/2006/relationships/tags" Target="../tags/tag95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image" Target="../media/image9.svg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12900" y="2080895"/>
            <a:ext cx="1013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How to Find Relationship among Variations</a:t>
            </a:r>
            <a:endParaRPr lang="en-US" altLang="zh-CN" sz="3600"/>
          </a:p>
        </p:txBody>
      </p:sp>
      <p:sp>
        <p:nvSpPr>
          <p:cNvPr id="5" name="文本框 4"/>
          <p:cNvSpPr txBox="1"/>
          <p:nvPr/>
        </p:nvSpPr>
        <p:spPr>
          <a:xfrm>
            <a:off x="4147185" y="3429000"/>
            <a:ext cx="6955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Xianzhe Meng            2025.7.10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268605"/>
            <a:ext cx="5453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Catelogue</a:t>
            </a:r>
            <a:endParaRPr lang="en-US" altLang="zh-CN" sz="5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9570" y="1487805"/>
            <a:ext cx="6633845" cy="17532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3600">
                <a:solidFill>
                  <a:schemeClr val="accent4"/>
                </a:solidFill>
                <a:effectLst/>
              </a:rPr>
              <a:t>1.typical statistical methods</a:t>
            </a:r>
            <a:endParaRPr lang="en-US" altLang="zh-CN" sz="3600">
              <a:solidFill>
                <a:schemeClr val="accent4"/>
              </a:solidFill>
              <a:effectLst/>
            </a:endParaRPr>
          </a:p>
          <a:p>
            <a:r>
              <a:rPr lang="en-US" altLang="zh-CN" sz="3600">
                <a:solidFill>
                  <a:schemeClr val="accent4"/>
                </a:solidFill>
                <a:effectLst/>
              </a:rPr>
              <a:t>2.modern algorithms</a:t>
            </a:r>
            <a:endParaRPr lang="en-US" altLang="zh-CN" sz="3600">
              <a:solidFill>
                <a:schemeClr val="accent4"/>
              </a:solidFill>
              <a:effectLst/>
            </a:endParaRPr>
          </a:p>
          <a:p>
            <a:r>
              <a:rPr lang="en-US" altLang="zh-CN" sz="3600">
                <a:solidFill>
                  <a:schemeClr val="accent4"/>
                </a:solidFill>
                <a:effectLst/>
              </a:rPr>
              <a:t>3.further thinking</a:t>
            </a:r>
            <a:endParaRPr lang="en-US" altLang="zh-CN" sz="3600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5290" y="363855"/>
            <a:ext cx="5750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Motivation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5290" y="901700"/>
            <a:ext cx="606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1.Forecast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5290" y="1352550"/>
            <a:ext cx="3554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2.Adjust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5290" y="1863090"/>
            <a:ext cx="431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3.Motivation for Further Study 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5290" y="2373630"/>
            <a:ext cx="4251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4.Statistical Function Fitting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5290" y="3042920"/>
            <a:ext cx="5607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Values for Single Data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5290" y="3590290"/>
            <a:ext cx="5792470" cy="955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Central Tendency</a:t>
            </a:r>
            <a:r>
              <a:rPr lang="en-US" altLang="zh-CN"/>
              <a:t>: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mean,median,mode,quantile,Q1,Q3</a:t>
            </a:r>
            <a:endParaRPr lang="en-US" altLang="zh-CN"/>
          </a:p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Dispersion Tendency</a:t>
            </a:r>
            <a:r>
              <a:rPr lang="en-US" altLang="zh-CN"/>
              <a:t>: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max,min,std,range,Cov,IQR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Distribution Shape</a:t>
            </a:r>
            <a:r>
              <a:rPr lang="en-US" altLang="zh-CN"/>
              <a:t>: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skewness,kurtosis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5290" y="4694555"/>
            <a:ext cx="5607685" cy="112649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i.e.  differences for GA forecasting in mortality prediction,length of hospital stay,disease prediction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09235" y="339090"/>
            <a:ext cx="5762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Values for Independence Analysis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5220970" y="901700"/>
          <a:ext cx="5943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Positive Prediction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Negative Prediction</a:t>
                      </a:r>
                      <a:endParaRPr lang="en-US" altLang="zh-CN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Positive Outcome 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FN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Negative Outcome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TN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198745" y="2193290"/>
            <a:ext cx="6167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BASIC</a:t>
            </a:r>
            <a:r>
              <a:rPr lang="en-US" altLang="zh-CN"/>
              <a:t>: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TPR,FPR,Accuracy,Sensitivity,Specificity,PPV,NPV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SQUARE</a:t>
            </a:r>
            <a:r>
              <a:rPr lang="en-US" altLang="zh-CN"/>
              <a:t>: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AUPRC,AUROC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OTHERS</a:t>
            </a:r>
            <a:r>
              <a:rPr lang="en-US" altLang="zh-CN"/>
              <a:t>: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F1,Cohen’s Kappa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44590" y="3171190"/>
            <a:ext cx="3646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Source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12535" y="3623945"/>
            <a:ext cx="5254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MIMIC-III</a:t>
            </a:r>
            <a:endParaRPr lang="en-US" altLang="zh-CN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312535" y="4076700"/>
            <a:ext cx="5065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EEG,ECG,Glucose,gait data,EHR,PPG,EMG,IMU,Antigraph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7" grpId="0"/>
      <p:bldP spid="17" grpId="1"/>
      <p:bldP spid="19" grpId="0"/>
      <p:bldP spid="1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11150" y="282575"/>
            <a:ext cx="347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Modern Methods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1150" y="836295"/>
            <a:ext cx="5073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How we reduce dimension?</a:t>
            </a:r>
            <a:endParaRPr lang="en-US" altLang="zh-CN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6" name="图片 5" descr="左大括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07690" y="725170"/>
            <a:ext cx="815340" cy="8153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79520" y="513080"/>
            <a:ext cx="483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 selection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79520" y="881380"/>
            <a:ext cx="2561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 extraction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86505" y="1249680"/>
            <a:ext cx="2368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 classfication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5632450" y="705485"/>
            <a:ext cx="25742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927090" y="1429385"/>
            <a:ext cx="25742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831205" y="1104265"/>
            <a:ext cx="25742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405495" y="480695"/>
            <a:ext cx="246761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misleading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01380" y="881380"/>
            <a:ext cx="123698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redundant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10600" y="1249680"/>
            <a:ext cx="152908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irrelevant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38360" y="881380"/>
            <a:ext cx="166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transformation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1150" y="1917700"/>
            <a:ext cx="5520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embedded / hybrid &gt; wrappers &gt; filters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19750" y="1917700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Relief Algorithm</a:t>
            </a:r>
            <a:endParaRPr lang="en-US" altLang="zh-CN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-12065" y="4788535"/>
            <a:ext cx="12204065" cy="37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0" y="4931410"/>
                <a:ext cx="2108200" cy="1755140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independence checkout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Euclid length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student t-checkout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IG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CFS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31410"/>
                <a:ext cx="2108200" cy="17551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7497445" y="2378075"/>
            <a:ext cx="2007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mRMR</a:t>
            </a:r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94255" y="4926965"/>
            <a:ext cx="2667000" cy="1753235"/>
          </a:xfrm>
          <a:prstGeom prst="rect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p>
            <a:r>
              <a:rPr lang="en-US" altLang="zh-CN"/>
              <a:t>PCA</a:t>
            </a:r>
            <a:endParaRPr lang="en-US" altLang="zh-CN"/>
          </a:p>
          <a:p>
            <a:r>
              <a:rPr lang="en-US" altLang="zh-CN"/>
              <a:t>ICA</a:t>
            </a:r>
            <a:endParaRPr lang="en-US" altLang="zh-CN"/>
          </a:p>
          <a:p>
            <a:r>
              <a:rPr lang="en-US" altLang="zh-CN"/>
              <a:t>Non-linear PCA</a:t>
            </a:r>
            <a:endParaRPr lang="en-US" altLang="zh-CN"/>
          </a:p>
          <a:p>
            <a:r>
              <a:rPr lang="en-US" altLang="zh-CN"/>
              <a:t>PPCA</a:t>
            </a:r>
            <a:endParaRPr lang="en-US" altLang="zh-CN"/>
          </a:p>
          <a:p>
            <a:r>
              <a:rPr lang="en-US" altLang="zh-CN"/>
              <a:t>KPCA</a:t>
            </a:r>
            <a:endParaRPr lang="en-US" altLang="zh-CN"/>
          </a:p>
          <a:p>
            <a:r>
              <a:rPr lang="en-US" altLang="zh-CN"/>
              <a:t>SVD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248285" y="2431415"/>
            <a:ext cx="2966085" cy="175323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</a:rPr>
              <a:t>filter:</a:t>
            </a:r>
            <a:endParaRPr lang="en-US" altLang="zh-CN">
              <a:solidFill>
                <a:schemeClr val="accent4"/>
              </a:solidFill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Correlation Based Method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Information Gain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MI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BW-ratio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INTERACT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94075" y="2431415"/>
            <a:ext cx="3463290" cy="9220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wrapper:</a:t>
            </a:r>
            <a:endParaRPr lang="en-US" altLang="zh-CN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SVM</a:t>
            </a:r>
            <a:endParaRPr lang="en-US" altLang="zh-CN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GA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00425" y="3509645"/>
            <a:ext cx="3431540" cy="645160"/>
          </a:xfrm>
          <a:prstGeom prst="rect">
            <a:avLst/>
          </a:prstGeom>
          <a:gradFill>
            <a:gsLst>
              <a:gs pos="100000">
                <a:srgbClr val="FF1744"/>
              </a:gs>
              <a:gs pos="0">
                <a:srgbClr val="FF8A80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p>
            <a:r>
              <a:rPr lang="en-US" altLang="zh-CN"/>
              <a:t>hybrid:</a:t>
            </a:r>
            <a:endParaRPr lang="en-US" altLang="zh-CN"/>
          </a:p>
          <a:p>
            <a:r>
              <a:rPr lang="en-US" altLang="zh-CN"/>
              <a:t>filter+wrapper</a:t>
            </a:r>
            <a:endParaRPr lang="en-US" altLang="zh-CN"/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5147310" y="4808855"/>
            <a:ext cx="6350" cy="208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497445" y="3049270"/>
            <a:ext cx="1318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PAM</a:t>
            </a:r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572760" y="5216525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relevant,irrelevant,redundant features</a:t>
            </a:r>
            <a:endParaRPr lang="en-US" altLang="zh-CN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97445" y="3720465"/>
            <a:ext cx="204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FSA</a:t>
            </a:r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3" grpId="0"/>
      <p:bldP spid="13" grpId="1"/>
      <p:bldP spid="18" grpId="0"/>
      <p:bldP spid="18" grpId="1"/>
      <p:bldP spid="19" grpId="0"/>
      <p:bldP spid="19" grpId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3" grpId="0"/>
      <p:bldP spid="23" grpId="1"/>
      <p:bldP spid="29" grpId="0"/>
      <p:bldP spid="29" grpId="1"/>
      <p:bldP spid="14" grpId="0"/>
      <p:bldP spid="17" grpId="0"/>
      <p:bldP spid="14" grpId="1"/>
      <p:bldP spid="17" grpId="1"/>
      <p:bldP spid="22" grpId="0" animBg="1"/>
      <p:bldP spid="22" grpId="1" animBg="1"/>
      <p:bldP spid="24" grpId="0" animBg="1"/>
      <p:bldP spid="24" grpId="1" animBg="1"/>
      <p:bldP spid="15" grpId="0"/>
      <p:bldP spid="15" grpId="1"/>
      <p:bldP spid="30" grpId="0"/>
      <p:bldP spid="30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1595" y="5977255"/>
            <a:ext cx="7702550" cy="801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code recurrence for GA</a:t>
            </a:r>
            <a:endParaRPr lang="en-US" altLang="zh-CN" sz="32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5" name="图片 4" descr="屏幕截图 2025-07-11 1403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946390" cy="4684395"/>
          </a:xfrm>
          <a:prstGeom prst="rect">
            <a:avLst/>
          </a:prstGeom>
        </p:spPr>
      </p:pic>
      <p:pic>
        <p:nvPicPr>
          <p:cNvPr id="6" name="图片 5" descr="屏幕截图 2025-07-11 140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805" y="2510155"/>
            <a:ext cx="7275195" cy="43478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" y="443865"/>
            <a:ext cx="6433185" cy="567372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6755130" y="1598295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6703695" y="2188210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703695" y="2778125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6703695" y="3335655"/>
            <a:ext cx="775970" cy="32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6755130" y="3957955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755130" y="5249545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6755130" y="4379595"/>
            <a:ext cx="344170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799580" y="4801870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799580" y="5777230"/>
            <a:ext cx="1170305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969885" y="1398905"/>
            <a:ext cx="171132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linear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925435" y="1925955"/>
            <a:ext cx="3634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difficult for complex relationship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sometimes lose valid groups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969885" y="2630805"/>
            <a:ext cx="307276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unstable;no optimization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87920" y="3060700"/>
            <a:ext cx="475488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good for high dimension but easy to fluctuate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969885" y="3696970"/>
            <a:ext cx="409892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catch part difference,huge calcultaion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056120" y="4154805"/>
            <a:ext cx="561911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precise for independent features,huge calculation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24495" y="4634230"/>
            <a:ext cx="390715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purification,huge calculation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69885" y="5095240"/>
            <a:ext cx="37338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global optimisation,long time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974330" y="5603875"/>
            <a:ext cx="434022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select important feature,huge calculation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0"/>
          <a:ext cx="12153900" cy="687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785"/>
                <a:gridCol w="9556115"/>
              </a:tblGrid>
              <a:tr h="846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PCA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Pricipal Component Analysis,Unsupervised learning</a:t>
                      </a:r>
                      <a:endParaRPr lang="en-US" altLang="zh-CN"/>
                    </a:p>
                  </a:txBody>
                  <a:tcPr/>
                </a:tc>
              </a:tr>
              <a:tr h="846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ICA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Independent Component Analysis</a:t>
                      </a:r>
                      <a:endParaRPr lang="en-US" altLang="zh-CN"/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Non-linear PCA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Save features</a:t>
                      </a:r>
                      <a:endParaRPr lang="en-US" altLang="zh-CN"/>
                    </a:p>
                  </a:txBody>
                  <a:tcPr/>
                </a:tc>
              </a:tr>
              <a:tr h="846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PPCA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Anti-noise </a:t>
                      </a:r>
                      <a:endParaRPr lang="en-US" altLang="zh-CN"/>
                    </a:p>
                  </a:txBody>
                  <a:tcPr/>
                </a:tc>
              </a:tr>
              <a:tr h="846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KPCA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Product in high dimensions</a:t>
                      </a:r>
                      <a:endParaRPr lang="en-US" altLang="zh-CN"/>
                    </a:p>
                  </a:txBody>
                  <a:tcPr/>
                </a:tc>
              </a:tr>
              <a:tr h="8470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SVD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High Stability</a:t>
                      </a:r>
                      <a:endParaRPr lang="en-US" altLang="zh-CN"/>
                    </a:p>
                  </a:txBody>
                  <a:tcPr/>
                </a:tc>
              </a:tr>
              <a:tr h="846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IG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One of the most distinctive features</a:t>
                      </a:r>
                      <a:endParaRPr lang="en-US" altLang="zh-CN"/>
                    </a:p>
                  </a:txBody>
                  <a:tcPr/>
                </a:tc>
              </a:tr>
              <a:tr h="846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CFS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Take correlation into account , Suitable for multiple tasks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57835" y="381635"/>
            <a:ext cx="4153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Challenges We meet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835" y="950595"/>
            <a:ext cx="10386060" cy="17081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1.How to precisely display relationships among data?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2.overfit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3.How can we shorten confidence interval?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4.How can we optimize complexity?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5.How can we find suitable features?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835" y="2786380"/>
            <a:ext cx="356679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Modern Methods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7835" y="3244850"/>
            <a:ext cx="934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DL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7835" y="3642360"/>
            <a:ext cx="849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GA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7835" y="4039870"/>
            <a:ext cx="16764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RF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57835" y="4450080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SVM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7835" y="4871720"/>
            <a:ext cx="3444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chaos theory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92125" y="412115"/>
            <a:ext cx="572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Further Thoughts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4040" y="1017905"/>
            <a:ext cx="10393680" cy="1476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  <a:sym typeface="+mn-ea"/>
              </a:rPr>
              <a:t>1.As for overfitting,can we axiomatize and define the most precise meaning of overfit?</a:t>
            </a:r>
            <a:endParaRPr lang="en-US" altLang="zh-CN">
              <a:solidFill>
                <a:schemeClr val="accent4"/>
              </a:solidFill>
              <a:effectLst/>
              <a:sym typeface="+mn-ea"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  <a:sym typeface="+mn-ea"/>
              </a:rPr>
              <a:t>   How can we put forward a heuristic algorithm based on the axiomatization,</a:t>
            </a:r>
            <a:endParaRPr lang="en-US" altLang="zh-CN">
              <a:solidFill>
                <a:schemeClr val="accent4"/>
              </a:solidFill>
              <a:effectLst/>
              <a:sym typeface="+mn-ea"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  <a:sym typeface="+mn-ea"/>
              </a:rPr>
              <a:t>   s.t.          we can prevent overfitting using only partial dots?</a:t>
            </a:r>
            <a:endParaRPr lang="en-US" altLang="zh-CN">
              <a:solidFill>
                <a:schemeClr val="accent4"/>
              </a:solidFill>
              <a:effectLst/>
              <a:sym typeface="+mn-ea"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   Or just raise a theory of “partial overfit”,and by the algorithm,we prevent most of overfitting?</a:t>
            </a:r>
            <a:endParaRPr lang="en-US" altLang="zh-CN">
              <a:solidFill>
                <a:schemeClr val="accent4"/>
              </a:solidFill>
              <a:effectLst/>
            </a:endParaRPr>
          </a:p>
          <a:p>
            <a:r>
              <a:rPr lang="en-US" altLang="zh-CN">
                <a:solidFill>
                  <a:schemeClr val="accent4"/>
                </a:solidFill>
                <a:effectLst/>
              </a:rPr>
              <a:t>   Why is the study remains blank?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4040" y="2675890"/>
            <a:ext cx="8956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2.How can this study be applied in medical treatment?</a:t>
            </a:r>
            <a:endParaRPr lang="en-US" altLang="zh-CN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4040" y="3225800"/>
            <a:ext cx="9707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3.Is there a new algorithm or new value representative to solve the problem?Why we choose the algorithm that can’t be proved to be optimal? Can we precise them by using maths?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040" y="3947795"/>
            <a:ext cx="8571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4.A kind of new algorithm</a:t>
            </a:r>
            <a:endParaRPr lang="en-US" altLang="zh-CN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07589907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195" y="437515"/>
            <a:ext cx="2991485" cy="29914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94130" y="3706495"/>
            <a:ext cx="3042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Traditional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94835" y="152400"/>
            <a:ext cx="2537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New Methods: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336415" y="671195"/>
            <a:ext cx="2186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 1: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263390" y="1200785"/>
            <a:ext cx="471741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Filter </a:t>
            </a:r>
            <a:r>
              <a:rPr lang="en-US" altLang="zh-CN">
                <a:solidFill>
                  <a:schemeClr val="accent4"/>
                </a:solidFill>
              </a:rPr>
              <a:t>the noise and get true answers</a:t>
            </a:r>
            <a:endParaRPr lang="en-US" altLang="zh-CN">
              <a:solidFill>
                <a:schemeClr val="accent4"/>
              </a:solidFill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6"/>
            </p:custDataLst>
          </p:nvPr>
        </p:nvCxnSpPr>
        <p:spPr>
          <a:xfrm flipH="1" flipV="1">
            <a:off x="8841740" y="247015"/>
            <a:ext cx="6985" cy="1506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7"/>
            </p:custDataLst>
          </p:nvPr>
        </p:nvCxnSpPr>
        <p:spPr>
          <a:xfrm>
            <a:off x="8848725" y="1739265"/>
            <a:ext cx="2332990" cy="29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9065895" y="121793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9231630" y="103949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10"/>
            </p:custDataLst>
          </p:nvPr>
        </p:nvSpPr>
        <p:spPr>
          <a:xfrm>
            <a:off x="9434195" y="67373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11"/>
            </p:custDataLst>
          </p:nvPr>
        </p:nvSpPr>
        <p:spPr>
          <a:xfrm>
            <a:off x="9942195" y="7569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12"/>
            </p:custDataLst>
          </p:nvPr>
        </p:nvSpPr>
        <p:spPr>
          <a:xfrm>
            <a:off x="10387965" y="11252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13"/>
            </p:custDataLst>
          </p:nvPr>
        </p:nvSpPr>
        <p:spPr>
          <a:xfrm>
            <a:off x="10647045" y="14935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14"/>
            </p:custDataLst>
          </p:nvPr>
        </p:nvSpPr>
        <p:spPr>
          <a:xfrm>
            <a:off x="10948035" y="14935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15"/>
            </p:custDataLst>
          </p:nvPr>
        </p:nvSpPr>
        <p:spPr>
          <a:xfrm>
            <a:off x="9065895" y="134747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6"/>
            </p:custDataLst>
          </p:nvPr>
        </p:nvSpPr>
        <p:spPr>
          <a:xfrm>
            <a:off x="9226550" y="120078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7"/>
            </p:custDataLst>
          </p:nvPr>
        </p:nvSpPr>
        <p:spPr>
          <a:xfrm>
            <a:off x="9446895" y="83248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8"/>
            </p:custDataLst>
          </p:nvPr>
        </p:nvSpPr>
        <p:spPr>
          <a:xfrm>
            <a:off x="9942195" y="59817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19"/>
            </p:custDataLst>
          </p:nvPr>
        </p:nvSpPr>
        <p:spPr>
          <a:xfrm>
            <a:off x="10387965" y="96393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20"/>
            </p:custDataLst>
          </p:nvPr>
        </p:nvSpPr>
        <p:spPr>
          <a:xfrm>
            <a:off x="10647045" y="120078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>
            <p:custDataLst>
              <p:tags r:id="rId21"/>
            </p:custDataLst>
          </p:nvPr>
        </p:nvSpPr>
        <p:spPr>
          <a:xfrm>
            <a:off x="10948035" y="141795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4292600" y="1629410"/>
            <a:ext cx="617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noise=probability density</a:t>
            </a:r>
            <a:r>
              <a:rPr lang="zh-CN" altLang="en-US"/>
              <a:t>×</a:t>
            </a:r>
            <a:r>
              <a:rPr lang="en-US" altLang="zh-CN"/>
              <a:t>how hard it fluctuates</a:t>
            </a:r>
            <a:endParaRPr lang="en-US" altLang="zh-CN"/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4263390" y="2269490"/>
            <a:ext cx="1155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 2:</a:t>
            </a:r>
            <a:endParaRPr lang="en-US" altLang="zh-CN"/>
          </a:p>
        </p:txBody>
      </p:sp>
      <p:cxnSp>
        <p:nvCxnSpPr>
          <p:cNvPr id="28" name="直接箭头连接符 27"/>
          <p:cNvCxnSpPr/>
          <p:nvPr>
            <p:custDataLst>
              <p:tags r:id="rId24"/>
            </p:custDataLst>
          </p:nvPr>
        </p:nvCxnSpPr>
        <p:spPr>
          <a:xfrm flipH="1" flipV="1">
            <a:off x="8905875" y="2211070"/>
            <a:ext cx="6985" cy="1506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25"/>
            </p:custDataLst>
          </p:nvPr>
        </p:nvCxnSpPr>
        <p:spPr>
          <a:xfrm>
            <a:off x="8912860" y="3703320"/>
            <a:ext cx="2332990" cy="29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椭圆 29"/>
          <p:cNvSpPr/>
          <p:nvPr>
            <p:custDataLst>
              <p:tags r:id="rId26"/>
            </p:custDataLst>
          </p:nvPr>
        </p:nvSpPr>
        <p:spPr>
          <a:xfrm>
            <a:off x="9130030" y="318198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7"/>
            </p:custDataLst>
          </p:nvPr>
        </p:nvSpPr>
        <p:spPr>
          <a:xfrm>
            <a:off x="9295765" y="300355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8"/>
            </p:custDataLst>
          </p:nvPr>
        </p:nvSpPr>
        <p:spPr>
          <a:xfrm>
            <a:off x="9498330" y="263779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29"/>
            </p:custDataLst>
          </p:nvPr>
        </p:nvSpPr>
        <p:spPr>
          <a:xfrm>
            <a:off x="10006330" y="272097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30"/>
            </p:custDataLst>
          </p:nvPr>
        </p:nvSpPr>
        <p:spPr>
          <a:xfrm>
            <a:off x="10452100" y="308927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>
            <p:custDataLst>
              <p:tags r:id="rId31"/>
            </p:custDataLst>
          </p:nvPr>
        </p:nvSpPr>
        <p:spPr>
          <a:xfrm>
            <a:off x="10711180" y="345757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32"/>
            </p:custDataLst>
          </p:nvPr>
        </p:nvSpPr>
        <p:spPr>
          <a:xfrm>
            <a:off x="11012170" y="345757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>
            <p:custDataLst>
              <p:tags r:id="rId33"/>
            </p:custDataLst>
          </p:nvPr>
        </p:nvSpPr>
        <p:spPr>
          <a:xfrm>
            <a:off x="9130030" y="331152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>
            <p:custDataLst>
              <p:tags r:id="rId34"/>
            </p:custDataLst>
          </p:nvPr>
        </p:nvSpPr>
        <p:spPr>
          <a:xfrm>
            <a:off x="9290685" y="316484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>
            <p:custDataLst>
              <p:tags r:id="rId35"/>
            </p:custDataLst>
          </p:nvPr>
        </p:nvSpPr>
        <p:spPr>
          <a:xfrm>
            <a:off x="9511030" y="279654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>
            <p:custDataLst>
              <p:tags r:id="rId36"/>
            </p:custDataLst>
          </p:nvPr>
        </p:nvSpPr>
        <p:spPr>
          <a:xfrm>
            <a:off x="10006330" y="256222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>
            <p:custDataLst>
              <p:tags r:id="rId37"/>
            </p:custDataLst>
          </p:nvPr>
        </p:nvSpPr>
        <p:spPr>
          <a:xfrm>
            <a:off x="10452100" y="2927985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>
            <p:custDataLst>
              <p:tags r:id="rId38"/>
            </p:custDataLst>
          </p:nvPr>
        </p:nvSpPr>
        <p:spPr>
          <a:xfrm>
            <a:off x="10711180" y="316484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椭圆 42"/>
          <p:cNvSpPr/>
          <p:nvPr>
            <p:custDataLst>
              <p:tags r:id="rId39"/>
            </p:custDataLst>
          </p:nvPr>
        </p:nvSpPr>
        <p:spPr>
          <a:xfrm>
            <a:off x="11012170" y="3382010"/>
            <a:ext cx="75565" cy="7556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4343400" y="2755900"/>
            <a:ext cx="362775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Get new dots and iterate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61" name="椭圆 60"/>
          <p:cNvSpPr/>
          <p:nvPr>
            <p:custDataLst>
              <p:tags r:id="rId41"/>
            </p:custDataLst>
          </p:nvPr>
        </p:nvSpPr>
        <p:spPr>
          <a:xfrm>
            <a:off x="9727565" y="2680335"/>
            <a:ext cx="75565" cy="755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椭圆 62"/>
          <p:cNvSpPr/>
          <p:nvPr>
            <p:custDataLst>
              <p:tags r:id="rId42"/>
            </p:custDataLst>
          </p:nvPr>
        </p:nvSpPr>
        <p:spPr>
          <a:xfrm>
            <a:off x="10236835" y="2713355"/>
            <a:ext cx="75565" cy="755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43"/>
            </p:custDataLst>
          </p:nvPr>
        </p:nvSpPr>
        <p:spPr>
          <a:xfrm>
            <a:off x="4336415" y="3260090"/>
            <a:ext cx="3715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Termination:</a:t>
            </a:r>
            <a:endParaRPr lang="en-US" altLang="zh-CN"/>
          </a:p>
        </p:txBody>
      </p:sp>
      <p:sp>
        <p:nvSpPr>
          <p:cNvPr id="65" name="文本框 64"/>
          <p:cNvSpPr txBox="1"/>
          <p:nvPr/>
        </p:nvSpPr>
        <p:spPr>
          <a:xfrm>
            <a:off x="4394835" y="3728720"/>
            <a:ext cx="4227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For two dots,interval &lt;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394835" y="4328160"/>
            <a:ext cx="4227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How we get the dots:</a:t>
            </a:r>
            <a:endParaRPr lang="en-US" altLang="zh-CN"/>
          </a:p>
        </p:txBody>
      </p:sp>
      <p:sp>
        <p:nvSpPr>
          <p:cNvPr id="67" name="文本框 66"/>
          <p:cNvSpPr txBox="1"/>
          <p:nvPr/>
        </p:nvSpPr>
        <p:spPr>
          <a:xfrm>
            <a:off x="4343400" y="4891405"/>
            <a:ext cx="442468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mean of two close dots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020050" y="4218305"/>
            <a:ext cx="39497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Advantage:</a:t>
            </a:r>
            <a:endParaRPr lang="en-US" altLang="zh-CN"/>
          </a:p>
          <a:p>
            <a:r>
              <a:rPr lang="en-US" altLang="zh-CN"/>
              <a:t>We don’t need to show the function and this function can have the ability not to be limited by just a few typical functions,like ReLU,tanh,etc. </a:t>
            </a:r>
            <a:endParaRPr lang="en-US" altLang="zh-CN"/>
          </a:p>
          <a:p>
            <a:r>
              <a:rPr lang="en-US" altLang="zh-CN"/>
              <a:t>And maybe time complexity can be optimised.</a:t>
            </a:r>
            <a:endParaRPr lang="en-US" altLang="zh-CN"/>
          </a:p>
        </p:txBody>
      </p:sp>
      <p:sp>
        <p:nvSpPr>
          <p:cNvPr id="69" name="文本框 68"/>
          <p:cNvSpPr txBox="1"/>
          <p:nvPr/>
        </p:nvSpPr>
        <p:spPr>
          <a:xfrm>
            <a:off x="272415" y="53663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Challenges</a:t>
            </a:r>
            <a:endParaRPr lang="en-US" altLang="zh-CN" sz="28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V="1">
            <a:off x="2061845" y="1541780"/>
            <a:ext cx="2391410" cy="382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2354580" y="3077210"/>
            <a:ext cx="4248785" cy="2362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2800350" y="5775960"/>
            <a:ext cx="3671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How?</a:t>
            </a:r>
            <a:endParaRPr lang="en-US" altLang="zh-CN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8" grpId="1"/>
      <p:bldP spid="11" grpId="1" animBg="1"/>
      <p:bldP spid="12" grpId="1" animBg="1"/>
      <p:bldP spid="13" grpId="1" animBg="1"/>
      <p:bldP spid="14" grpId="1" animBg="1"/>
      <p:bldP spid="15" grpId="1" animBg="1"/>
      <p:bldP spid="16" grpId="1" animBg="1"/>
      <p:bldP spid="17" grpId="1" animBg="1"/>
      <p:bldP spid="18" grpId="1" animBg="1"/>
      <p:bldP spid="20" grpId="1" animBg="1"/>
      <p:bldP spid="21" grpId="1" animBg="1"/>
      <p:bldP spid="22" grpId="1" animBg="1"/>
      <p:bldP spid="23" grpId="1" animBg="1"/>
      <p:bldP spid="24" grpId="1" animBg="1"/>
      <p:bldP spid="25" grpId="1" animBg="1"/>
      <p:bldP spid="26" grpId="1"/>
      <p:bldP spid="27" grpId="0"/>
      <p:bldP spid="27" grpId="1"/>
      <p:bldP spid="44" grpId="0"/>
      <p:bldP spid="44" grpId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61" grpId="0" animBg="1"/>
      <p:bldP spid="63" grpId="0" animBg="1"/>
      <p:bldP spid="30" grpId="1" animBg="1"/>
      <p:bldP spid="31" grpId="1" animBg="1"/>
      <p:bldP spid="32" grpId="1" animBg="1"/>
      <p:bldP spid="33" grpId="1" animBg="1"/>
      <p:bldP spid="34" grpId="1" animBg="1"/>
      <p:bldP spid="35" grpId="1" animBg="1"/>
      <p:bldP spid="36" grpId="1" animBg="1"/>
      <p:bldP spid="37" grpId="1" animBg="1"/>
      <p:bldP spid="38" grpId="1" animBg="1"/>
      <p:bldP spid="39" grpId="1" animBg="1"/>
      <p:bldP spid="40" grpId="1" animBg="1"/>
      <p:bldP spid="41" grpId="1" animBg="1"/>
      <p:bldP spid="42" grpId="1" animBg="1"/>
      <p:bldP spid="43" grpId="1" animBg="1"/>
      <p:bldP spid="61" grpId="1" animBg="1"/>
      <p:bldP spid="63" grpId="1" animBg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2" grpId="0"/>
      <p:bldP spid="7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TABLE_ENDDRAG_ORIGIN_RECT" val="467*108"/>
  <p:tag name="TABLE_ENDDRAG_RECT" val="411*71*467*108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3634395],&quot;13&quot;:[4364957,4364884],&quot;65&quot;:[20205081]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TABLE_ENDDRAG_ORIGIN_RECT" val="956*541"/>
  <p:tag name="TABLE_ENDDRAG_RECT" val="0*0*957*54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2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3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4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5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6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7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8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79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0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1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2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3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4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5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6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7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8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89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0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1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2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3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4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5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6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7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8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99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0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1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2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3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4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5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6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7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8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09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10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11.xml><?xml version="1.0" encoding="utf-8"?>
<p:tagLst xmlns:p="http://schemas.openxmlformats.org/presentationml/2006/main">
  <p:tag name="KSO_WM_DIAGRAM_VIRTUALLY_FRAME" val="{&quot;height&quot;:274.45,&quot;left&quot;:331.1,&quot;top&quot;:19.45,&quot;width&quot;:554.4}"/>
</p:tagLst>
</file>

<file path=ppt/tags/tag112.xml><?xml version="1.0" encoding="utf-8"?>
<p:tagLst xmlns:p="http://schemas.openxmlformats.org/presentationml/2006/main">
  <p:tag name="resource_record_key" val="{&quot;10&quot;:[3634395],&quot;13&quot;:[4364957,436488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3124</Words>
  <Application>WPS 演示</Application>
  <PresentationFormat>宽屏</PresentationFormat>
  <Paragraphs>231</Paragraphs>
  <Slides>10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????</cp:lastModifiedBy>
  <cp:revision>194</cp:revision>
  <dcterms:created xsi:type="dcterms:W3CDTF">2019-06-19T02:08:00Z</dcterms:created>
  <dcterms:modified xsi:type="dcterms:W3CDTF">2025-07-11T07:33:54Z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6DF444D8029C4B43AF0DC53465D18275_11</vt:lpwstr>
  </property>
</Properties>
</file>